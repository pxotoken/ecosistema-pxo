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notesMaster" Target="notesMasters/notesMaster1.xml" /><Relationship Id="rId15" Type="http://schemas.openxmlformats.org/officeDocument/2006/relationships/viewProps" Target="viewProps.xml" /><Relationship Id="rId14" Type="http://schemas.openxmlformats.org/officeDocument/2006/relationships/presProps" Target="presProps.xml" /><Relationship Id="rId1" Type="http://schemas.openxmlformats.org/officeDocument/2006/relationships/slideMaster" Target="slideMasters/slideMaster1.xml" /><Relationship Id="rId17" Type="http://schemas.openxmlformats.org/officeDocument/2006/relationships/tableStyles" Target="tableStyles.xml" /><Relationship Id="rId16"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Presentación dirigida a inversionistas y stakeholders. Objetivo: comunicar el progreso técnico de las últimas seis semanas, las decisiones estratégicas tomadas, y el camino restante hacia el lanzamiento suave y el lanzamiento oficial.</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primera decisión no fue técnica sino de proceso. En lugar de continuar apilando funcionalidad sobre bases desconocidas, invertimos el primer mes en levantar la fotografía real del sistema: qué existe, qué funciona, qué está roto, y qué se creía documentado pero no lo estaba. Esto informó todo lo demás.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Estos cuatro hallazgos son la razón por la que “avanzar rápido” habría sido peligroso. Ninguno era visible desde el uso diario del sistema. Los cuatro tienen plan de resolución en la próxima fase (nivel P0 en el backlog interno). Ninguno requiere refactorización estructural: son fallas de configuración y documentación, no de ingeniería.</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Uno de los entregables clave del periodo es la primera descripción integral, verificada contra código, de cómo se mueve el dinero en el sistema. Antes de esto, la mecánica dependía de conocimiento institucional no documentado. El diagrama permite que cualquier auditor, regulador o nuevo miembro del equipo comprenda el sistema en menos de veinte minutos.</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La expansión multi-cadena es una tentación permanente en cualquier proyecto de token porque parece “gratis” desde afuera. El análisis publicado muestra que el costo real está en operaciones recurrentes, no en ingeniería puntual. La disciplina de decir no ahora preserva la capacidad de decir sí más tarde con información concreta de demanda.</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Esta decisión merece énfasis porque puede leerse como una reducción de alcance. En realidad es una mejora sustantiva del perfil de riesgo. Los procesadores de tarjeta operan bajo reglas donde el titular puede disputar cargos hasta 120 días después, y la resolución típicamente favorece al consumidor. Cuando el bien entregado es un token en cadena, la reversión es imposible. SPEI, al ser push-based, no tiene mecanismo de chargeback. El costo es exigir al usuario un vínculo bancario mexicano — barrera intencional que también funciona como capa KYC adicional.</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Este es probablemente el hallazgo con mayor implicación regulatoria del periodo. Cualquier afirmación en materiales de marketing basada en la descripción anterior habría constituido una tergiversación material. La corrección permite que la comunicación externa sea defendible ante escrutinio de reguladores y consumidores. La estrategia de repositorio privado ante F&amp;F y público al lanzamiento oficial equilibra transparencia con oportunidad de completar higiene operativa antes de exposición masiva.</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Cambios visibles al usuario final refuerzan la percepción de un producto profesional. Cambios invisibles (higiene de configuración) previenen las incidencias más caras: aquellas que solo aparecen en producción. El gate de T&amp;C, aparentemente cosmético, cumple el requisito de consentimiento explícito antes de vinculación a servicios financieros.</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Cada uno de estos documentos existe porque su ausencia era un riesgo. Se producen como sistema de conocimiento durable, no como reportes efímeros. Cualquier persona que se sume al equipo (contratación, asesoría, auditor) puede llegar a comprensión operativa en horas, no semanas.</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El calendario propuesto es defensible ante escrutinio externo. Prioriza integridad sobre velocidad, transparencia sobre marketing, y decisiones documentadas sobre acumulación silenciosa de riesgo. Estamos abiertos a discutir cualquier aspecto del plan, especialmente donde inversionistas tengan visibilidad sobre aliados potenciales (asesores de compliance en fintech mexicana, firmas de auditoría de contratos inteligentes, contactos operativos con Bitso).</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Progreso Técnico · Ecosistema PXO</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Reporte de avance — mayo a junio 2026</a:t>
            </a:r>
            <a:br/>
            <a:br/>
            <a:r>
              <a:rPr/>
              <a:t>Adrian Clarich, CTO</a:t>
            </a:r>
          </a:p>
        </p:txBody>
      </p:sp>
      <p:sp>
        <p:nvSpPr>
          <p:cNvPr id="4" name="Date Placeholder 3"/>
          <p:cNvSpPr>
            <a:spLocks noGrp="1"/>
          </p:cNvSpPr>
          <p:nvPr>
            <p:ph idx="10" sz="half" type="dt"/>
          </p:nvPr>
        </p:nvSpPr>
        <p:spPr/>
        <p:txBody>
          <a:bodyPr/>
          <a:lstStyle/>
          <a:p>
            <a:pPr lvl="0" indent="0" marL="0">
              <a:buNone/>
            </a:pPr>
            <a:r>
              <a:rPr/>
              <a:t>2 de julio de 2026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Progreso Técnico · Ecosistema PXO</a:t>
            </a:r>
          </a:p>
        </p:txBody>
      </p:sp>
      <p:sp>
        <p:nvSpPr>
          <p:cNvPr id="3" name="Content Placeholder 2"/>
          <p:cNvSpPr>
            <a:spLocks noGrp="1"/>
          </p:cNvSpPr>
          <p:nvPr>
            <p:ph idx="1"/>
          </p:nvPr>
        </p:nvSpPr>
        <p:spPr/>
        <p:txBody>
          <a:bodyPr/>
          <a:lstStyle/>
          <a:p>
            <a:pPr lvl="0"/>
            <a:r>
              <a:rPr/>
              <a:t>Reporte de avance</a:t>
            </a:r>
          </a:p>
          <a:p>
            <a:pPr lvl="0"/>
            <a:r>
              <a:rPr/>
              <a:t>Periodo: mayo – junio 2026</a:t>
            </a:r>
          </a:p>
          <a:p>
            <a:pPr lvl="0"/>
            <a:r>
              <a:rPr/>
              <a:t>CTO: Adrian Clarich</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Punto de partida</a:t>
            </a:r>
          </a:p>
        </p:txBody>
      </p:sp>
      <p:sp>
        <p:nvSpPr>
          <p:cNvPr id="3" name="Content Placeholder 2"/>
          <p:cNvSpPr>
            <a:spLocks noGrp="1"/>
          </p:cNvSpPr>
          <p:nvPr>
            <p:ph idx="1"/>
          </p:nvPr>
        </p:nvSpPr>
        <p:spPr/>
        <p:txBody>
          <a:bodyPr/>
          <a:lstStyle/>
          <a:p>
            <a:pPr lvl="0"/>
            <a:r>
              <a:rPr/>
              <a:t>Traspaso del equipo anterior sin documentación consolidada</a:t>
            </a:r>
          </a:p>
          <a:p>
            <a:pPr lvl="0"/>
            <a:r>
              <a:rPr/>
              <a:t>Sin visibilidad clara de wallets, reservas, o dependencias de configuración</a:t>
            </a:r>
          </a:p>
          <a:p>
            <a:pPr lvl="0"/>
            <a:r>
              <a:rPr/>
              <a:t>Backlog inexistente; expectativas no alineadas entre equipo técnico y dirección</a:t>
            </a:r>
          </a:p>
          <a:p>
            <a:pPr lvl="0"/>
            <a:r>
              <a:rPr b="1"/>
              <a:t>Objetivo asumido:</a:t>
            </a:r>
            <a:r>
              <a:rPr/>
              <a:t> pasar de “parchar y avanzar” a “estabilizar antes de escalar”</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Hallazgos críticos</a:t>
            </a:r>
          </a:p>
        </p:txBody>
      </p:sp>
      <p:sp>
        <p:nvSpPr>
          <p:cNvPr id="3" name="Content Placeholder 2"/>
          <p:cNvSpPr>
            <a:spLocks noGrp="1"/>
          </p:cNvSpPr>
          <p:nvPr>
            <p:ph idx="1"/>
          </p:nvPr>
        </p:nvSpPr>
        <p:spPr/>
        <p:txBody>
          <a:bodyPr/>
          <a:lstStyle/>
          <a:p>
            <a:pPr lvl="0"/>
            <a:r>
              <a:rPr/>
              <a:t>Flujo de redención (SELL) en Polygon mainnet </a:t>
            </a:r>
            <a:r>
              <a:rPr b="1"/>
              <a:t>no funcionaba</a:t>
            </a:r>
            <a:r>
              <a:rPr/>
              <a:t> por variable de entorno ausente</a:t>
            </a:r>
          </a:p>
          <a:p>
            <a:pPr lvl="0"/>
            <a:r>
              <a:rPr/>
              <a:t>Dirección hardcoded en frontend recibiendo redenciones — dueño </a:t>
            </a:r>
            <a:r>
              <a:rPr b="1"/>
              <a:t>desconocido</a:t>
            </a:r>
          </a:p>
          <a:p>
            <a:pPr lvl="0"/>
            <a:r>
              <a:rPr/>
              <a:t>Documento técnico del contrato describía </a:t>
            </a:r>
            <a:r>
              <a:rPr b="1"/>
              <a:t>arquitectura distinta</a:t>
            </a:r>
            <a:r>
              <a:rPr/>
              <a:t> a la realmente desplegada</a:t>
            </a:r>
          </a:p>
          <a:p>
            <a:pPr lvl="0"/>
            <a:r>
              <a:rPr/>
              <a:t>Panel administrativo </a:t>
            </a:r>
            <a:r>
              <a:rPr b="1"/>
              <a:t>ciego a USDT</a:t>
            </a:r>
            <a:r>
              <a:rPr/>
              <a:t> en tesorería a pesar de aceptarlo como pago</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Mecánica del dinero (visión unificada)</a:t>
            </a:r>
          </a:p>
        </p:txBody>
      </p:sp>
      <p:sp>
        <p:nvSpPr>
          <p:cNvPr id="3" name="Content Placeholder 2"/>
          <p:cNvSpPr>
            <a:spLocks noGrp="1"/>
          </p:cNvSpPr>
          <p:nvPr>
            <p:ph idx="1"/>
          </p:nvPr>
        </p:nvSpPr>
        <p:spPr/>
        <p:txBody>
          <a:bodyPr/>
          <a:lstStyle/>
          <a:p>
            <a:pPr lvl="0"/>
            <a:r>
              <a:rPr b="1"/>
              <a:t>Respaldo legal:</a:t>
            </a:r>
            <a:r>
              <a:rPr/>
              <a:t> cuenta bancaria + instrumentos financieros (escrow)</a:t>
            </a:r>
          </a:p>
          <a:p>
            <a:pPr lvl="0"/>
            <a:r>
              <a:rPr b="1"/>
              <a:t>Suministro:</a:t>
            </a:r>
            <a:r>
              <a:rPr/>
              <a:t> 50M PXO pre-acuñados en reserva fría on-chain</a:t>
            </a:r>
          </a:p>
          <a:p>
            <a:pPr lvl="0"/>
            <a:r>
              <a:rPr b="1"/>
              <a:t>Operación diaria:</a:t>
            </a:r>
            <a:r>
              <a:rPr/>
              <a:t> tesorería caliente (float de trabajo)</a:t>
            </a:r>
          </a:p>
          <a:p>
            <a:pPr lvl="0"/>
            <a:r>
              <a:rPr b="1"/>
              <a:t>Rieles fiat:</a:t>
            </a:r>
            <a:r>
              <a:rPr/>
              <a:t> Bitso para redención (SPEI de salida)</a:t>
            </a:r>
          </a:p>
          <a:p>
            <a:pPr lvl="0"/>
            <a:r>
              <a:rPr/>
              <a:t>Diagrama completo en </a:t>
            </a:r>
            <a:r>
              <a:rPr>
                <a:latin typeface="Courier"/>
              </a:rPr>
              <a:t>docs/MONEY_MECHANICS.md</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Decisión estratégica #1: Solo Polygon en esta fase</a:t>
            </a:r>
          </a:p>
        </p:txBody>
      </p:sp>
      <p:sp>
        <p:nvSpPr>
          <p:cNvPr id="3" name="Content Placeholder 2"/>
          <p:cNvSpPr>
            <a:spLocks noGrp="1"/>
          </p:cNvSpPr>
          <p:nvPr>
            <p:ph idx="1"/>
          </p:nvPr>
        </p:nvSpPr>
        <p:spPr/>
        <p:txBody>
          <a:bodyPr/>
          <a:lstStyle/>
          <a:p>
            <a:pPr lvl="0"/>
            <a:r>
              <a:rPr/>
              <a:t>Multi-cadena (Stellar, Tron, Solana) evaluada rigurosamente</a:t>
            </a:r>
          </a:p>
          <a:p>
            <a:pPr lvl="0"/>
            <a:r>
              <a:rPr/>
              <a:t>Costo operativo recurrente supera el beneficio pre-lanzamiento</a:t>
            </a:r>
          </a:p>
          <a:p>
            <a:pPr lvl="0"/>
            <a:r>
              <a:rPr/>
              <a:t>Cada cadena adicional agrega 0.5–1 día/semana de carga operativa permanente</a:t>
            </a:r>
          </a:p>
          <a:p>
            <a:pPr lvl="0"/>
            <a:r>
              <a:rPr b="1"/>
              <a:t>Decisión:</a:t>
            </a:r>
            <a:r>
              <a:rPr/>
              <a:t> enfoque en Polygon; reevaluación post-lanzamiento con datos de uso reales</a:t>
            </a:r>
          </a:p>
          <a:p>
            <a:pPr lvl="0"/>
            <a:r>
              <a:rPr/>
              <a:t>Memorando completo en </a:t>
            </a:r>
            <a:r>
              <a:rPr>
                <a:latin typeface="Courier"/>
              </a:rPr>
              <a:t>docs/MULTICHAIN_EXPANSION_DECISION.es.md</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Decisión estratégica #2: Salida de Conekta</a:t>
            </a:r>
          </a:p>
        </p:txBody>
      </p:sp>
      <p:sp>
        <p:nvSpPr>
          <p:cNvPr id="3" name="Content Placeholder 2"/>
          <p:cNvSpPr>
            <a:spLocks noGrp="1"/>
          </p:cNvSpPr>
          <p:nvPr>
            <p:ph idx="1"/>
          </p:nvPr>
        </p:nvSpPr>
        <p:spPr/>
        <p:txBody>
          <a:bodyPr/>
          <a:lstStyle/>
          <a:p>
            <a:pPr lvl="0"/>
            <a:r>
              <a:rPr b="1"/>
              <a:t>Contexto:</a:t>
            </a:r>
            <a:r>
              <a:rPr/>
              <a:t> modelo original contemplaba Conekta (tarjetas) como rampa fiat de entrada</a:t>
            </a:r>
          </a:p>
          <a:p>
            <a:pPr lvl="0"/>
            <a:r>
              <a:rPr b="1"/>
              <a:t>Riesgo identificado:</a:t>
            </a:r>
            <a:r>
              <a:rPr/>
              <a:t> chargebacks sobre pagos que ya se materializaron en PXO son irrecuperables</a:t>
            </a:r>
          </a:p>
          <a:p>
            <a:pPr lvl="0"/>
            <a:r>
              <a:rPr b="1"/>
              <a:t>Combinación tóxica:</a:t>
            </a:r>
            <a:r>
              <a:rPr/>
              <a:t> tarjeta reversible + transferencia on-chain irreversible = pérdida garantizada ante disputa fraudulenta</a:t>
            </a:r>
          </a:p>
          <a:p>
            <a:pPr lvl="0"/>
            <a:r>
              <a:rPr b="1"/>
              <a:t>Nuevo modelo:</a:t>
            </a:r>
            <a:r>
              <a:rPr/>
              <a:t> el usuario registra su CLABE SPEI como única fuente fiat autorizada</a:t>
            </a:r>
          </a:p>
          <a:p>
            <a:pPr lvl="0"/>
            <a:r>
              <a:rPr/>
              <a:t>Menor conveniencia inicial → mayor integridad estructural</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Contrato inteligente: corrección y transparencia</a:t>
            </a:r>
          </a:p>
        </p:txBody>
      </p:sp>
      <p:sp>
        <p:nvSpPr>
          <p:cNvPr id="3" name="Content Placeholder 2"/>
          <p:cNvSpPr>
            <a:spLocks noGrp="1"/>
          </p:cNvSpPr>
          <p:nvPr>
            <p:ph idx="1"/>
          </p:nvPr>
        </p:nvSpPr>
        <p:spPr/>
        <p:txBody>
          <a:bodyPr/>
          <a:lstStyle/>
          <a:p>
            <a:pPr lvl="0"/>
            <a:r>
              <a:rPr/>
              <a:t>Documento técnico previo describía USDC de Circle, no el contrato real</a:t>
            </a:r>
          </a:p>
          <a:p>
            <a:pPr lvl="0"/>
            <a:r>
              <a:rPr/>
              <a:t>Contrato real es una construcción híbrida: OpenZeppelin + patrón Tether legado</a:t>
            </a:r>
          </a:p>
          <a:p>
            <a:pPr lvl="0"/>
            <a:r>
              <a:rPr b="1"/>
              <a:t>Cinco roles</a:t>
            </a:r>
            <a:r>
              <a:rPr/>
              <a:t> distintos con poder soberano concentrado en el Propietario</a:t>
            </a:r>
          </a:p>
          <a:p>
            <a:pPr lvl="0"/>
            <a:r>
              <a:rPr/>
              <a:t>Nuevo documento técnico corregido, listo para revisión legal</a:t>
            </a:r>
          </a:p>
          <a:p>
            <a:pPr lvl="0"/>
            <a:r>
              <a:rPr/>
              <a:t>Preparación para publicación en repositorio dedicado (privado en F&amp;F, público en lanzamiento oficial)</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Producto: mejoras visibles</a:t>
            </a:r>
          </a:p>
        </p:txBody>
      </p:sp>
      <p:sp>
        <p:nvSpPr>
          <p:cNvPr id="3" name="Content Placeholder 2"/>
          <p:cNvSpPr>
            <a:spLocks noGrp="1"/>
          </p:cNvSpPr>
          <p:nvPr>
            <p:ph idx="1"/>
          </p:nvPr>
        </p:nvSpPr>
        <p:spPr/>
        <p:txBody>
          <a:bodyPr/>
          <a:lstStyle/>
          <a:p>
            <a:pPr lvl="0"/>
            <a:r>
              <a:rPr/>
              <a:t>Portal web rediseñado con estética minimalista tipo tether.to</a:t>
            </a:r>
          </a:p>
          <a:p>
            <a:pPr lvl="0"/>
            <a:r>
              <a:rPr/>
              <a:t>Gate de aceptación de Términos y Condiciones obligatorio antes de conectar wallet</a:t>
            </a:r>
          </a:p>
          <a:p>
            <a:pPr lvl="0"/>
            <a:r>
              <a:rPr/>
              <a:t>Panel de balance multi-token (PXO, USDT, USDC)</a:t>
            </a:r>
          </a:p>
          <a:p>
            <a:pPr lvl="0"/>
            <a:r>
              <a:rPr/>
              <a:t>Auditoría completa de variables de entorno documentada en </a:t>
            </a:r>
            <a:r>
              <a:rPr>
                <a:latin typeface="Courier"/>
              </a:rPr>
              <a:t>ENV_MATRIX.md</a:t>
            </a:r>
          </a:p>
          <a:p>
            <a:pPr lvl="0"/>
            <a:r>
              <a:rPr/>
              <a:t>Arquitectura backend depurada de dependencias silenciosas</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Entregables documentales del periodo</a:t>
            </a:r>
          </a:p>
        </p:txBody>
      </p:sp>
      <p:sp>
        <p:nvSpPr>
          <p:cNvPr id="3" name="Content Placeholder 2"/>
          <p:cNvSpPr>
            <a:spLocks noGrp="1"/>
          </p:cNvSpPr>
          <p:nvPr>
            <p:ph idx="1"/>
          </p:nvPr>
        </p:nvSpPr>
        <p:spPr/>
        <p:txBody>
          <a:bodyPr/>
          <a:lstStyle/>
          <a:p>
            <a:pPr lvl="0"/>
            <a:r>
              <a:rPr>
                <a:latin typeface="Courier"/>
              </a:rPr>
              <a:t>ENV_MATRIX.md</a:t>
            </a:r>
            <a:r>
              <a:rPr/>
              <a:t> — inventario de configuración por servicio</a:t>
            </a:r>
          </a:p>
          <a:p>
            <a:pPr lvl="0"/>
            <a:r>
              <a:rPr>
                <a:latin typeface="Courier"/>
              </a:rPr>
              <a:t>MONEY_MECHANICS.md</a:t>
            </a:r>
            <a:r>
              <a:rPr/>
              <a:t> — mecánica de dinero verificada contra código</a:t>
            </a:r>
          </a:p>
          <a:p>
            <a:pPr lvl="0"/>
            <a:r>
              <a:rPr>
                <a:latin typeface="Courier"/>
              </a:rPr>
              <a:t>BACKLOG.md</a:t>
            </a:r>
            <a:r>
              <a:rPr/>
              <a:t> — priorización por niveles hacia lanzamiento</a:t>
            </a:r>
          </a:p>
          <a:p>
            <a:pPr lvl="0"/>
            <a:r>
              <a:rPr>
                <a:latin typeface="Courier"/>
              </a:rPr>
              <a:t>MULTICHAIN_EXPANSION_DECISION.es.md</a:t>
            </a:r>
            <a:r>
              <a:rPr/>
              <a:t> — memorando de decisión</a:t>
            </a:r>
          </a:p>
          <a:p>
            <a:pPr lvl="0"/>
            <a:r>
              <a:rPr>
                <a:latin typeface="Courier"/>
              </a:rPr>
              <a:t>PXO - Resumen técnico (corregido).md</a:t>
            </a:r>
            <a:r>
              <a:rPr/>
              <a:t> — descripción precisa del contrato</a:t>
            </a:r>
          </a:p>
          <a:p>
            <a:pPr lvl="0"/>
            <a:r>
              <a:rPr>
                <a:latin typeface="Courier"/>
              </a:rPr>
              <a:t>RESUMEN_EJECUTIVO_LANZAMIENTO.md</a:t>
            </a:r>
            <a:r>
              <a:rPr/>
              <a:t> — hoja de ruta ejecutiva</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Camino adelante</a:t>
            </a:r>
          </a:p>
        </p:txBody>
      </p:sp>
      <p:sp>
        <p:nvSpPr>
          <p:cNvPr id="3" name="Content Placeholder 2"/>
          <p:cNvSpPr>
            <a:spLocks noGrp="1"/>
          </p:cNvSpPr>
          <p:nvPr>
            <p:ph idx="1"/>
          </p:nvPr>
        </p:nvSpPr>
        <p:spPr/>
        <p:txBody>
          <a:bodyPr/>
          <a:lstStyle/>
          <a:p>
            <a:pPr lvl="0"/>
            <a:r>
              <a:rPr b="1"/>
              <a:t>Lanzamiento suave (F&amp;F):</a:t>
            </a:r>
            <a:r>
              <a:rPr/>
              <a:t> ~1-2 semanas de trabajo enfocado, 8 tareas identificadas</a:t>
            </a:r>
          </a:p>
          <a:p>
            <a:pPr lvl="0"/>
            <a:r>
              <a:rPr b="1"/>
              <a:t>Lanzamiento oficial:</a:t>
            </a:r>
            <a:r>
              <a:rPr/>
              <a:t> 2-4 meses adicionales, condicionado a completar higiene operativa y compliance</a:t>
            </a:r>
          </a:p>
          <a:p>
            <a:pPr lvl="0"/>
            <a:r>
              <a:rPr b="1"/>
              <a:t>Prioridad inmediata:</a:t>
            </a:r>
            <a:r>
              <a:rPr/>
              <a:t> cerrar los dos P0 (variable de entorno, dirección hardcoded)</a:t>
            </a:r>
          </a:p>
          <a:p>
            <a:pPr lvl="0"/>
            <a:r>
              <a:rPr b="1"/>
              <a:t>Fuera de alcance deliberado:</a:t>
            </a:r>
            <a:r>
              <a:rPr/>
              <a:t> multi-cadena, PXO nativo en otras cadenas, redención automatizada SPEI</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Progreso Técnico · Ecosistema PXO</dc:title>
  <dc:creator>Adrian Clarich, CTO</dc:creator>
  <cp:keywords/>
  <dcterms:created xsi:type="dcterms:W3CDTF">2026-07-02T16:38:34Z</dcterms:created>
  <dcterms:modified xsi:type="dcterms:W3CDTF">2026-07-02T16:38:34Z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 de julio de 2026</vt:lpwstr>
  </property>
  <property fmtid="{D5CDD505-2E9C-101B-9397-08002B2CF9AE}" pid="3" name="subtitle">
    <vt:lpwstr>Reporte de avance — mayo a junio 2026</vt:lpwstr>
  </property>
</Properties>
</file>